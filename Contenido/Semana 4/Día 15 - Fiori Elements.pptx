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hbsKkSMPar9H6KShZaYClsKaZb9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customschemas.google.com/relationships/presentationmetadata" Target="metadata"/><Relationship Id="rId10" Type="http://schemas.openxmlformats.org/officeDocument/2006/relationships/slide" Target="slides/slide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44612dade3_0_79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344612dade3_0_79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60e8941f_0_0:notes"/>
          <p:cNvSpPr/>
          <p:nvPr>
            <p:ph idx="2" type="sldImg"/>
          </p:nvPr>
        </p:nvSpPr>
        <p:spPr>
          <a:xfrm>
            <a:off x="508400" y="385763"/>
            <a:ext cx="81279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360e8941f_0_0:notes"/>
          <p:cNvSpPr txBox="1"/>
          <p:nvPr>
            <p:ph idx="1" type="body"/>
          </p:nvPr>
        </p:nvSpPr>
        <p:spPr>
          <a:xfrm>
            <a:off x="914400" y="2443163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2e4101d08ad_0_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g2e4101d08ad_0_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2e4101d08ad_0_6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44612dade3_0_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44612dade3_0_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g344612dade3_0_6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3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9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"/>
          <p:cNvPicPr preferRelativeResize="0"/>
          <p:nvPr/>
        </p:nvPicPr>
        <p:blipFill rotWithShape="1">
          <a:blip r:embed="rId3">
            <a:alphaModFix/>
          </a:blip>
          <a:srcRect b="7765" l="17193" r="22021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>
                <a:solidFill>
                  <a:schemeClr val="lt1"/>
                </a:solidFill>
              </a:rPr>
              <a:t>Fiori Elements</a:t>
            </a:r>
            <a:endParaRPr b="0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" name="Google Shape;130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</p:pic>
      <p:sp>
        <p:nvSpPr>
          <p:cNvPr id="131" name="Google Shape;131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6" name="Google Shape;136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29019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1</a:t>
            </a:r>
            <a:r>
              <a:rPr b="1" lang="en-US" sz="1700">
                <a:solidFill>
                  <a:srgbClr val="FFFFFF"/>
                </a:solidFill>
              </a:rPr>
              <a:t>5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4612dade3_0_7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Fiori Elements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3" name="Google Shape;143;g344612dade3_0_79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Fiori Elements es un marco de desarrollo en SAPUI5 que permite crear aplicaciones empresariales basadas en principios de diseño de SAP Fiori, utilizando una estructura y patrones predefinidos.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lang="en-US" sz="13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Utiliza metadatos OData para generar automáticamente la interfaz de usuario, lo que reduce el esfuerzo de desarrollo.</a:t>
            </a:r>
            <a:endParaRPr sz="13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lang="en-US" sz="13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Proporciona una experiencia de usuario coherente y alineada con las pautas de diseño de SAP.</a:t>
            </a:r>
            <a:endParaRPr sz="13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500"/>
              <a:buFont typeface="Trebuchet MS"/>
              <a:buChar char="●"/>
            </a:pPr>
            <a:r>
              <a:rPr lang="en-US" sz="1300">
                <a:solidFill>
                  <a:srgbClr val="374151"/>
                </a:solidFill>
                <a:highlight>
                  <a:srgbClr val="F9FAFB"/>
                </a:highlight>
                <a:latin typeface="Trebuchet MS"/>
                <a:ea typeface="Trebuchet MS"/>
                <a:cs typeface="Trebuchet MS"/>
                <a:sym typeface="Trebuchet MS"/>
              </a:rPr>
              <a:t>Implementa patrones como List Report, Object Page y Overview Page, facilitando la creación de aplicaciones complejas.</a:t>
            </a:r>
            <a:endParaRPr sz="1400">
              <a:solidFill>
                <a:srgbClr val="374151"/>
              </a:solidFill>
              <a:highlight>
                <a:srgbClr val="F9FAFB"/>
              </a:highlight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44" name="Google Shape;144;g344612dade3_0_79"/>
          <p:cNvSpPr/>
          <p:nvPr/>
        </p:nvSpPr>
        <p:spPr>
          <a:xfrm rot="6547604">
            <a:off x="991575" y="203641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44612dade3_0_79"/>
          <p:cNvSpPr/>
          <p:nvPr/>
        </p:nvSpPr>
        <p:spPr>
          <a:xfrm rot="6547604">
            <a:off x="7036925" y="-342590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g344612dade3_0_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4360e8941f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Fiori Elements</a:t>
            </a:r>
            <a:endParaRPr b="1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2" name="Google Shape;152;g34360e8941f_0_0"/>
          <p:cNvSpPr txBox="1"/>
          <p:nvPr>
            <p:ph idx="1" type="body"/>
          </p:nvPr>
        </p:nvSpPr>
        <p:spPr>
          <a:xfrm>
            <a:off x="311700" y="1162400"/>
            <a:ext cx="8520600" cy="15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</a:rPr>
              <a:t>Ventajas:</a:t>
            </a:r>
            <a:endParaRPr b="1" sz="1400">
              <a:solidFill>
                <a:srgbClr val="374151"/>
              </a:solidFill>
              <a:highlight>
                <a:srgbClr val="F9FAFB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</a:rPr>
              <a:t>Desarrollo Rápido: 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</a:rPr>
              <a:t>Acelera el proceso de creación de aplicaciones al reutilizar componentes y lógica de negocio.</a:t>
            </a:r>
            <a:endParaRPr sz="1400">
              <a:solidFill>
                <a:srgbClr val="374151"/>
              </a:solidFill>
              <a:highlight>
                <a:srgbClr val="F9FAFB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</a:rPr>
              <a:t>Menor Mantenimiento: 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</a:rPr>
              <a:t>Al estar basado en metadatos, las actualizaciones y cambios son más fáciles de implementar.</a:t>
            </a:r>
            <a:endParaRPr sz="1400">
              <a:solidFill>
                <a:srgbClr val="374151"/>
              </a:solidFill>
              <a:highlight>
                <a:srgbClr val="F9FAFB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74151"/>
              </a:buClr>
              <a:buSzPts val="1400"/>
              <a:buChar char="●"/>
            </a:pPr>
            <a:r>
              <a:rPr b="1" lang="en-US" sz="1400">
                <a:solidFill>
                  <a:srgbClr val="374151"/>
                </a:solidFill>
                <a:highlight>
                  <a:srgbClr val="F9FAFB"/>
                </a:highlight>
              </a:rPr>
              <a:t>Mejora de la Experiencia de Usuario:</a:t>
            </a:r>
            <a:r>
              <a:rPr lang="en-US" sz="1400">
                <a:solidFill>
                  <a:srgbClr val="374151"/>
                </a:solidFill>
                <a:highlight>
                  <a:srgbClr val="F9FAFB"/>
                </a:highlight>
              </a:rPr>
              <a:t> Ofrece interfaces intuitivas y centradas en el usuario.</a:t>
            </a:r>
            <a:endParaRPr sz="56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53" name="Google Shape;153;g34360e8941f_0_0"/>
          <p:cNvSpPr/>
          <p:nvPr/>
        </p:nvSpPr>
        <p:spPr>
          <a:xfrm rot="6547604">
            <a:off x="991580" y="2036401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4360e8941f_0_0"/>
          <p:cNvSpPr/>
          <p:nvPr/>
        </p:nvSpPr>
        <p:spPr>
          <a:xfrm rot="6547604">
            <a:off x="7036930" y="-342592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g34360e8941f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" y="340650"/>
            <a:ext cx="236689" cy="269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61" name="Google Shape;161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" name="Google Shape;162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156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" name="Google Shape;163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4" name="Google Shape;164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65" name="Google Shape;165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66" name="Google Shape;16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7" name="Google Shape;16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8" name="Google Shape;16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9" name="Google Shape;16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0" name="Google Shape;170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2" name="Google Shape;192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