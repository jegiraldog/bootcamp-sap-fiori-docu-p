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iSubPrXfKpKZ2B5+dJornrLAif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4612dade3_0_79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44612dade3_0_7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360e8941f_0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4360e8941f_0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4612dade3_0_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44612dade3_0_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44612dade3_0_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Controles Smart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411"/>
              </a:srgbClr>
            </a:outerShdw>
          </a:effectLst>
        </p:spPr>
      </p:pic>
      <p:sp>
        <p:nvSpPr>
          <p:cNvPr id="131" name="Google Shape;131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1</a:t>
            </a:r>
            <a:r>
              <a:rPr b="1" lang="en-US" sz="1700">
                <a:solidFill>
                  <a:srgbClr val="FFFFFF"/>
                </a:solidFill>
              </a:rPr>
              <a:t>4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4612dade3_0_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Controles Smart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g344612dade3_0_79"/>
          <p:cNvSpPr txBox="1"/>
          <p:nvPr>
            <p:ph idx="1" type="body"/>
          </p:nvPr>
        </p:nvSpPr>
        <p:spPr>
          <a:xfrm>
            <a:off x="311700" y="116240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Los controles Smart en SAPUI5 son componentes que facilitan la creación de aplicaciones empresariales al integrarse automáticamente con servicios OData.</a:t>
            </a:r>
            <a:endParaRPr sz="14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74151"/>
              </a:buClr>
              <a:buSzPts val="1400"/>
              <a:buChar char="●"/>
            </a:pPr>
            <a:r>
              <a:rPr b="1"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Integración con OData</a:t>
            </a:r>
            <a:r>
              <a:rPr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: Conexión directa a modelos OData para manipulación eficiente de datos.</a:t>
            </a:r>
            <a:endParaRPr sz="14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Char char="●"/>
            </a:pPr>
            <a:r>
              <a:rPr b="1"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Configuración Automática: </a:t>
            </a:r>
            <a:r>
              <a:rPr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Generación de formularios y tablas basada en metadatos del servicio.</a:t>
            </a:r>
            <a:endParaRPr sz="14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Char char="●"/>
            </a:pPr>
            <a:r>
              <a:rPr b="1"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Funcionalidades Adicionales:</a:t>
            </a:r>
            <a:r>
              <a:rPr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 Búsqueda, filtrado y ordenamiento sin programación adicional.</a:t>
            </a:r>
            <a:endParaRPr sz="14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Char char="●"/>
            </a:pPr>
            <a:r>
              <a:rPr b="1"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Responsive Design:</a:t>
            </a:r>
            <a:r>
              <a:rPr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 Adaptación a diferentes dispositivos y tamaños de pantalla.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g344612dade3_0_79"/>
          <p:cNvSpPr/>
          <p:nvPr/>
        </p:nvSpPr>
        <p:spPr>
          <a:xfrm rot="6547604">
            <a:off x="991575" y="2036416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44612dade3_0_79"/>
          <p:cNvSpPr/>
          <p:nvPr/>
        </p:nvSpPr>
        <p:spPr>
          <a:xfrm rot="6547604">
            <a:off x="7036925" y="-342590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44612dade3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360e8941f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Controles Smart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g34360e8941f_0_0"/>
          <p:cNvSpPr txBox="1"/>
          <p:nvPr>
            <p:ph idx="1" type="body"/>
          </p:nvPr>
        </p:nvSpPr>
        <p:spPr>
          <a:xfrm>
            <a:off x="311700" y="116240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US" sz="5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Tipos comunes de controles Smart</a:t>
            </a:r>
            <a:endParaRPr sz="56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b="1"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SmartTable: </a:t>
            </a:r>
            <a:r>
              <a:rPr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Muestra datos en forma de tabla.</a:t>
            </a:r>
            <a:endParaRPr sz="56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b="1"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SmartForm:</a:t>
            </a:r>
            <a:r>
              <a:rPr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 Permite crear y editar datos.</a:t>
            </a:r>
            <a:endParaRPr sz="56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b="1"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SmartFilterBar</a:t>
            </a:r>
            <a:r>
              <a:rPr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: Facilita la búsqueda de registros.</a:t>
            </a:r>
            <a:endParaRPr sz="56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b="1"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SmartChart</a:t>
            </a:r>
            <a:r>
              <a:rPr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: Visualiza datos en forma de gráficos.</a:t>
            </a:r>
            <a:endParaRPr sz="56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75"/>
              <a:buNone/>
            </a:pPr>
            <a:r>
              <a:rPr lang="en-US" sz="5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Ventajas</a:t>
            </a:r>
            <a:r>
              <a:rPr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 sz="56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b="1"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Eficiencia en Desarrollo:</a:t>
            </a:r>
            <a:r>
              <a:rPr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 Reduce el esfuerzo de programación.</a:t>
            </a:r>
            <a:endParaRPr sz="56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b="1"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Consistencia en UX: </a:t>
            </a:r>
            <a:r>
              <a:rPr lang="en-US" sz="56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Alineación con las pautas de diseño de SAP Fiori.</a:t>
            </a:r>
            <a:endParaRPr sz="5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2100"/>
              </a:spcBef>
              <a:spcAft>
                <a:spcPts val="1200"/>
              </a:spcAft>
              <a:buSzPct val="107692"/>
              <a:buNone/>
            </a:pPr>
            <a:r>
              <a:t/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g34360e8941f_0_0"/>
          <p:cNvSpPr/>
          <p:nvPr/>
        </p:nvSpPr>
        <p:spPr>
          <a:xfrm rot="6547604">
            <a:off x="991580" y="203640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4360e8941f_0_0"/>
          <p:cNvSpPr/>
          <p:nvPr/>
        </p:nvSpPr>
        <p:spPr>
          <a:xfrm rot="6547604">
            <a:off x="7036930" y="-342592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4360e8941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61" name="Google Shape;16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" name="Google Shape;163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64" name="Google Shape;164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65" name="Google Shape;165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6" name="Google Shape;1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" name="Google Shape;18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" name="Google Shape;192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