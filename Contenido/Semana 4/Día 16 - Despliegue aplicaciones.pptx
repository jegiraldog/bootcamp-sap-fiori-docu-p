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hoq9j5D1JQqMmlzUNlIm33f9RH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4612dade3_0_79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44612dade3_0_79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e4101d08ad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2e4101d08ad_0_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e4101d08ad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4612dade3_0_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44612dade3_0_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44612dade3_0_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"/>
          <p:cNvPicPr preferRelativeResize="0"/>
          <p:nvPr/>
        </p:nvPicPr>
        <p:blipFill rotWithShape="1">
          <a:blip r:embed="rId3">
            <a:alphaModFix/>
          </a:blip>
          <a:srcRect b="7765" l="17193" r="22021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"/>
          <p:cNvSpPr/>
          <p:nvPr/>
        </p:nvSpPr>
        <p:spPr>
          <a:xfrm>
            <a:off x="889560" y="1602720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8627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Despliegue de aplicaciones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8627"/>
              </a:srgbClr>
            </a:outerShdw>
          </a:effectLst>
        </p:spPr>
      </p:pic>
      <p:sp>
        <p:nvSpPr>
          <p:cNvPr id="131" name="Google Shape;131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8627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</a:t>
            </a:r>
            <a:r>
              <a:rPr b="1" lang="en-US" sz="1700">
                <a:solidFill>
                  <a:srgbClr val="FFFFFF"/>
                </a:solidFill>
              </a:rPr>
              <a:t>16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4612dade3_0_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Despliegue de aplicaciones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" name="Google Shape;143;g344612dade3_0_79"/>
          <p:cNvSpPr txBox="1"/>
          <p:nvPr>
            <p:ph idx="1" type="body"/>
          </p:nvPr>
        </p:nvSpPr>
        <p:spPr>
          <a:xfrm>
            <a:off x="311700" y="1162400"/>
            <a:ext cx="85206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Trebuchet MS"/>
              <a:buChar char="●"/>
            </a:pPr>
            <a:r>
              <a:rPr lang="en-US" sz="1500">
                <a:solidFill>
                  <a:srgbClr val="595959"/>
                </a:solidFill>
              </a:rPr>
              <a:t>En esta sesión se explicará como realizar un despliegue de una aplicación en cloud (BTP). Pero se debe tener en cuenta que existe otro tipo de despliegue (OnPremise).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Trebuchet MS"/>
              <a:buChar char="●"/>
            </a:pPr>
            <a:r>
              <a:rPr b="1" lang="en-US" sz="1416">
                <a:solidFill>
                  <a:srgbClr val="374151"/>
                </a:solidFill>
                <a:highlight>
                  <a:srgbClr val="F9FAFB"/>
                </a:highlight>
              </a:rPr>
              <a:t>Despliegue en la Nube (Cloud Deployment): </a:t>
            </a:r>
            <a:r>
              <a:rPr lang="en-US" sz="1416">
                <a:solidFill>
                  <a:srgbClr val="374151"/>
                </a:solidFill>
                <a:highlight>
                  <a:srgbClr val="F9FAFB"/>
                </a:highlight>
              </a:rPr>
              <a:t>Las aplicaciones se hospedan en la nube de SAP, como SAP Business Technology Platform (BTP). </a:t>
            </a:r>
            <a:r>
              <a:rPr b="1" lang="en-US" sz="1416">
                <a:solidFill>
                  <a:srgbClr val="374151"/>
                </a:solidFill>
                <a:highlight>
                  <a:srgbClr val="F9FAFB"/>
                </a:highlight>
              </a:rPr>
              <a:t>Ventajas:</a:t>
            </a:r>
            <a:r>
              <a:rPr lang="en-US" sz="1416">
                <a:solidFill>
                  <a:srgbClr val="374151"/>
                </a:solidFill>
                <a:highlight>
                  <a:srgbClr val="F9FAFB"/>
                </a:highlight>
              </a:rPr>
              <a:t> </a:t>
            </a:r>
            <a:r>
              <a:rPr lang="en-US" sz="1200">
                <a:solidFill>
                  <a:srgbClr val="374151"/>
                </a:solidFill>
                <a:highlight>
                  <a:srgbClr val="F9FAFB"/>
                </a:highlight>
              </a:rPr>
              <a:t> </a:t>
            </a:r>
            <a:r>
              <a:rPr lang="en-US" sz="1416">
                <a:solidFill>
                  <a:srgbClr val="374151"/>
                </a:solidFill>
                <a:highlight>
                  <a:srgbClr val="F9FAFB"/>
                </a:highlight>
              </a:rPr>
              <a:t>Escalabilidad, mantenimiento simplificado y acceso a innovaciones de SAP sin necesidad de infraestructura propia.</a:t>
            </a:r>
            <a:endParaRPr sz="1416">
              <a:solidFill>
                <a:srgbClr val="374151"/>
              </a:solidFill>
              <a:highlight>
                <a:srgbClr val="F9FAFB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Trebuchet MS"/>
              <a:buChar char="●"/>
            </a:pPr>
            <a:r>
              <a:rPr b="1" lang="en-US" sz="1416">
                <a:solidFill>
                  <a:srgbClr val="374151"/>
                </a:solidFill>
                <a:highlight>
                  <a:srgbClr val="F9FAFB"/>
                </a:highlight>
              </a:rPr>
              <a:t>Despliegue Local (On-Premise Deployment):</a:t>
            </a:r>
            <a:r>
              <a:rPr lang="en-US" sz="1416">
                <a:solidFill>
                  <a:srgbClr val="374151"/>
                </a:solidFill>
                <a:highlight>
                  <a:srgbClr val="F9FAFB"/>
                </a:highlight>
              </a:rPr>
              <a:t> Las aplicaciones se instalan y ejecutan en los servidores locales de la empresa.</a:t>
            </a:r>
            <a:r>
              <a:rPr lang="en-US" sz="1200">
                <a:solidFill>
                  <a:srgbClr val="374151"/>
                </a:solidFill>
                <a:highlight>
                  <a:srgbClr val="F9FAFB"/>
                </a:highlight>
              </a:rPr>
              <a:t> </a:t>
            </a:r>
            <a:r>
              <a:rPr b="1" lang="en-US" sz="1416">
                <a:solidFill>
                  <a:srgbClr val="374151"/>
                </a:solidFill>
                <a:highlight>
                  <a:srgbClr val="F9FAFB"/>
                </a:highlight>
              </a:rPr>
              <a:t>Ventajas</a:t>
            </a:r>
            <a:r>
              <a:rPr lang="en-US" sz="1200">
                <a:solidFill>
                  <a:srgbClr val="374151"/>
                </a:solidFill>
                <a:highlight>
                  <a:srgbClr val="F9FAFB"/>
                </a:highlight>
              </a:rPr>
              <a:t>: </a:t>
            </a:r>
            <a:r>
              <a:rPr lang="en-US" sz="1416">
                <a:solidFill>
                  <a:srgbClr val="374151"/>
                </a:solidFill>
                <a:highlight>
                  <a:srgbClr val="F9FAFB"/>
                </a:highlight>
              </a:rPr>
              <a:t>Mayor control sobre los datos y la infraestructura, ideal para organizaciones con requisitos estrictos de seguridad.</a:t>
            </a:r>
            <a:endParaRPr sz="14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" name="Google Shape;144;g344612dade3_0_79"/>
          <p:cNvSpPr/>
          <p:nvPr/>
        </p:nvSpPr>
        <p:spPr>
          <a:xfrm rot="6547604">
            <a:off x="991575" y="2036416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44612dade3_0_79"/>
          <p:cNvSpPr/>
          <p:nvPr/>
        </p:nvSpPr>
        <p:spPr>
          <a:xfrm rot="6547604">
            <a:off x="7036925" y="-3425909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44612dade3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52" name="Google Shape;152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117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55" name="Google Shape;155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56" name="Google Shape;156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7" name="Google Shape;15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2" name="Google Shape;16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7" name="Google Shape;1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2" name="Google Shape;1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7" name="Google Shape;1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3" name="Google Shape;183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